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8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1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FD68-F529-3AA2-9EE2-33E122812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F4690-F809-4FF2-8C20-8D95E3344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A324B-5CD4-37CF-4E85-0E20D4DD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9D59-558C-B3C5-095E-5219B4DA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FBF9C-6FF5-1444-8F57-7BC9436A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0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98D4-9828-640F-190A-A7DFC95D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6079-C696-7A26-5AB7-B4A7673AD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4332-F136-035C-DEFA-345D16200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F2661-D899-39E7-01DA-86A2EDF3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5ACE3-FAF4-ABB1-03E9-611CFB9E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2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857C-CAF9-2C1C-90B3-A3BAADA7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687AC-F11C-5D5E-ABEC-65131D487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97D2E-E911-F6D7-7C50-CE6F9B66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F1700-EE43-4179-E0BF-988B8B8A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2E84E-F7B3-DB0B-989D-873FE673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5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5160-7180-E2C2-B902-F06E8339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9253-11A7-AD8A-E198-B5284C3C1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720CE-6F64-19AD-12C1-BA56AF714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10A8-13C5-C614-8AD9-55EB6B8D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08F23-E46F-5521-FB6B-0038CBE9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09314-0F59-34D7-222D-2BF86574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5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B695-9A98-C15B-200B-D1774FEE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07E84-D246-C6FC-B07A-FD491A4E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7340D-3D5D-ED7A-0DEC-FB1D96779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624D1-9190-E28A-0CFE-C4AF39310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9F9CE-440F-BF02-79CA-84FAEA955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D38B3-342C-5C00-905D-0803751FA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865AF-AF01-EA7B-B0BF-1230A754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9E05-FFF6-63C8-37BA-D92389D6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2FF3-3C87-9293-87D4-5E204968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D008F-B180-2D73-B0A2-EC862468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2B348-A3ED-9384-BB86-41688704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CC381-09D7-669F-DDEB-792FC1FD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3F9DC-FC1C-077B-7A85-0CC25393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43BD6-FF64-A175-014D-54210370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6DF96-6174-9BB6-5B8C-97B8E032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A21A-F17B-0743-F2F6-BF124D941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6E5B-1101-8C4D-36B9-5CBA54146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E4887-E311-3625-C721-6E98FA7D5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1ABF-24EE-EF6B-1576-AFB9CD1F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A9C9A-9B0D-EC27-06BB-9D41970D2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121D6-F26A-4FD0-85EE-94FF8380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2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D873-CF08-1442-43B6-F855A363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BF0DA-3D6E-0183-DEFB-FB32E637A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05F8-2DEF-F130-42B4-0A46828D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5A2D-9AAE-7050-8B7A-5E3F1381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BBFD-ACB7-D4E8-5C46-F181352D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9CC5F-C335-4A00-D09A-3454C264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7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80CA-E46A-B4D4-3D5D-72DBDF6D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18A14-7280-9452-3948-A56CE56C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864D-7BB4-B676-A262-7760B52C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DDBFB-EA2D-39B7-E1B1-B87507A0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3FA92-DA66-693E-EE83-6BBF9E97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4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6738B-4A8F-7B2B-8422-F2B65D3A7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EB3C4-477E-DF35-8D98-5B4074F91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153F-C350-4344-484A-092B7DD6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309C2-4A37-AB41-396C-C49032DC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F327A-E304-608A-4E87-A9C96852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0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12872-5AD8-D5A8-D8FB-3DD96862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44C0E-02CB-18FA-A7A5-FC5849DED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9B5BB-CC4D-0050-BA68-A6186B56C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1807F-4839-7042-85F8-7E765409A7F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3337-B8F0-7513-2D35-D320011EF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225D-E8AC-FFE8-485E-F555B519F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helvy.com/blog/2026-05-12-quarto-optimal-claude-output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5ADF-F720-4E27-9340-0D398104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Unreasonable Effectiveness of Quarto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E733C-63EA-1C5F-CD62-6EFF387F7E56}"/>
              </a:ext>
            </a:extLst>
          </p:cNvPr>
          <p:cNvSpPr txBox="1"/>
          <p:nvPr/>
        </p:nvSpPr>
        <p:spPr>
          <a:xfrm>
            <a:off x="838200" y="2020186"/>
            <a:ext cx="7414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blog post:</a:t>
            </a:r>
          </a:p>
          <a:p>
            <a:r>
              <a:rPr lang="en-US" dirty="0">
                <a:hlinkClick r:id="rId2"/>
              </a:rPr>
              <a:t>https://www.jhelvy.com/blog/2026-05-12-quarto-optimal-claude-output/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41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547C9E-257F-748E-DAB6-1F3867CE393C}"/>
              </a:ext>
            </a:extLst>
          </p:cNvPr>
          <p:cNvSpPr/>
          <p:nvPr/>
        </p:nvSpPr>
        <p:spPr>
          <a:xfrm>
            <a:off x="776177" y="268737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CD30F-E4C4-1A19-AE83-9592E269A4C8}"/>
              </a:ext>
            </a:extLst>
          </p:cNvPr>
          <p:cNvSpPr/>
          <p:nvPr/>
        </p:nvSpPr>
        <p:spPr>
          <a:xfrm>
            <a:off x="3437863" y="268737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6194D3EF-A47F-97B6-02FC-C1A019AA3307}"/>
              </a:ext>
            </a:extLst>
          </p:cNvPr>
          <p:cNvSpPr/>
          <p:nvPr/>
        </p:nvSpPr>
        <p:spPr>
          <a:xfrm>
            <a:off x="8765805" y="2687380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E576CD-602E-30C0-2EC9-A782AF2DE52A}"/>
              </a:ext>
            </a:extLst>
          </p:cNvPr>
          <p:cNvSpPr/>
          <p:nvPr/>
        </p:nvSpPr>
        <p:spPr>
          <a:xfrm>
            <a:off x="3437863" y="4516481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2B43E1-858D-7F07-B0C0-850C340C26C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3151223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06500-9C2A-E8B9-A219-F48F6E47DDB9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3151223"/>
            <a:ext cx="415836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8584F1-4E08-496D-97A7-F109406C4417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4022654" y="3615066"/>
            <a:ext cx="0" cy="90141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3137D5A-03A0-2F74-7020-987AC0A88A01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5400000">
            <a:off x="5511465" y="-535431"/>
            <a:ext cx="12700" cy="8300994"/>
          </a:xfrm>
          <a:prstGeom prst="bentConnector3">
            <a:avLst>
              <a:gd name="adj1" fmla="val 1628372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C18299-17A8-C24E-2918-D703B622CA22}"/>
              </a:ext>
            </a:extLst>
          </p:cNvPr>
          <p:cNvSpPr txBox="1"/>
          <p:nvPr/>
        </p:nvSpPr>
        <p:spPr>
          <a:xfrm>
            <a:off x="2165597" y="2784697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4D5E7A-DAA3-F32E-DA52-E0E724F48F7E}"/>
              </a:ext>
            </a:extLst>
          </p:cNvPr>
          <p:cNvSpPr txBox="1"/>
          <p:nvPr/>
        </p:nvSpPr>
        <p:spPr>
          <a:xfrm>
            <a:off x="6104119" y="2778716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A6195-F83D-1445-2EE2-26DD37B0102E}"/>
              </a:ext>
            </a:extLst>
          </p:cNvPr>
          <p:cNvSpPr txBox="1"/>
          <p:nvPr/>
        </p:nvSpPr>
        <p:spPr>
          <a:xfrm>
            <a:off x="3721075" y="5769199"/>
            <a:ext cx="327044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Review artifact, then re-prompt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D2F3F-17D2-AAF6-0BDF-AD00EE83893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Typical Agentic Workflow</a:t>
            </a:r>
          </a:p>
        </p:txBody>
      </p:sp>
    </p:spTree>
    <p:extLst>
      <p:ext uri="{BB962C8B-B14F-4D97-AF65-F5344CB8AC3E}">
        <p14:creationId xmlns:p14="http://schemas.microsoft.com/office/powerpoint/2010/main" val="3058200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97CF-5889-9CC2-8C56-28938013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A55A66-84D5-F76B-76E7-060E596DC06D}"/>
              </a:ext>
            </a:extLst>
          </p:cNvPr>
          <p:cNvSpPr/>
          <p:nvPr/>
        </p:nvSpPr>
        <p:spPr>
          <a:xfrm>
            <a:off x="776177" y="2804338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132B7D-F748-9075-B0D6-6465EAF7BE38}"/>
              </a:ext>
            </a:extLst>
          </p:cNvPr>
          <p:cNvSpPr/>
          <p:nvPr/>
        </p:nvSpPr>
        <p:spPr>
          <a:xfrm>
            <a:off x="3437863" y="2804338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096D0A86-56FA-708D-8B04-6818B0A40341}"/>
              </a:ext>
            </a:extLst>
          </p:cNvPr>
          <p:cNvSpPr/>
          <p:nvPr/>
        </p:nvSpPr>
        <p:spPr>
          <a:xfrm>
            <a:off x="6095999" y="2804339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qmd</a:t>
            </a:r>
            <a:r>
              <a:rPr lang="en-US" dirty="0"/>
              <a:t> file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AF2070-B542-F427-B1DC-B175A295D66B}"/>
              </a:ext>
            </a:extLst>
          </p:cNvPr>
          <p:cNvSpPr/>
          <p:nvPr/>
        </p:nvSpPr>
        <p:spPr>
          <a:xfrm>
            <a:off x="3437863" y="4633440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6113C7-818C-050B-9969-A53B888EF44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3268182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1270FC-4248-CF1C-D51D-184DA75553E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3268182"/>
            <a:ext cx="148855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75882A-B247-A36E-0DD9-74B920E38F0E}"/>
              </a:ext>
            </a:extLst>
          </p:cNvPr>
          <p:cNvSpPr txBox="1"/>
          <p:nvPr/>
        </p:nvSpPr>
        <p:spPr>
          <a:xfrm>
            <a:off x="2165597" y="2901656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9008B-14A3-35D2-E697-83A3EA417F34}"/>
              </a:ext>
            </a:extLst>
          </p:cNvPr>
          <p:cNvSpPr txBox="1"/>
          <p:nvPr/>
        </p:nvSpPr>
        <p:spPr>
          <a:xfrm>
            <a:off x="4649552" y="2895675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5F3BC3BA-7C63-1770-3797-78004057284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4607444" y="3732025"/>
            <a:ext cx="2384712" cy="13652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CD7B1F-E8EE-4E3B-5C42-B5153F6224C3}"/>
              </a:ext>
            </a:extLst>
          </p:cNvPr>
          <p:cNvSpPr/>
          <p:nvPr/>
        </p:nvSpPr>
        <p:spPr>
          <a:xfrm>
            <a:off x="9076661" y="281068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93DBC8-BEDB-7C95-407D-58B233C2CA9E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>
            <a:off x="7888312" y="3268182"/>
            <a:ext cx="1188349" cy="63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10137C-E620-6D4A-8D66-A729CBF5C0CC}"/>
              </a:ext>
            </a:extLst>
          </p:cNvPr>
          <p:cNvSpPr txBox="1"/>
          <p:nvPr/>
        </p:nvSpPr>
        <p:spPr>
          <a:xfrm>
            <a:off x="7976898" y="2895675"/>
            <a:ext cx="101117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Renders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5C02C-DF6E-0F9B-E8F6-28E2F0CC8D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Agentic Workflow </a:t>
            </a:r>
            <a:r>
              <a:rPr lang="en-US" i="1" dirty="0"/>
              <a:t>with Quarto</a:t>
            </a:r>
          </a:p>
        </p:txBody>
      </p:sp>
    </p:spTree>
    <p:extLst>
      <p:ext uri="{BB962C8B-B14F-4D97-AF65-F5344CB8AC3E}">
        <p14:creationId xmlns:p14="http://schemas.microsoft.com/office/powerpoint/2010/main" val="283397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0876-BE01-B05C-9BF5-38EEAD19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A7D2BB-88F2-1080-C1C2-BC6670F5A349}"/>
              </a:ext>
            </a:extLst>
          </p:cNvPr>
          <p:cNvSpPr/>
          <p:nvPr/>
        </p:nvSpPr>
        <p:spPr>
          <a:xfrm>
            <a:off x="776177" y="2804338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C3F8A28-F3C1-F496-E552-53F50AB57F20}"/>
              </a:ext>
            </a:extLst>
          </p:cNvPr>
          <p:cNvSpPr/>
          <p:nvPr/>
        </p:nvSpPr>
        <p:spPr>
          <a:xfrm>
            <a:off x="3437863" y="2804338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6C7EB6E6-C4D0-7432-BCF0-4B7AE0EB61C0}"/>
              </a:ext>
            </a:extLst>
          </p:cNvPr>
          <p:cNvSpPr/>
          <p:nvPr/>
        </p:nvSpPr>
        <p:spPr>
          <a:xfrm>
            <a:off x="6095999" y="2804339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qmd</a:t>
            </a:r>
            <a:r>
              <a:rPr lang="en-US" dirty="0"/>
              <a:t> file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62702C-6C47-5392-6F01-69D7ADDA8E01}"/>
              </a:ext>
            </a:extLst>
          </p:cNvPr>
          <p:cNvSpPr/>
          <p:nvPr/>
        </p:nvSpPr>
        <p:spPr>
          <a:xfrm>
            <a:off x="3437863" y="4633440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ABDD57-BF24-E6BE-840E-BFD1A2F3AD5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3268182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235151-1E67-6C32-9D90-18990CAAB1A4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3268182"/>
            <a:ext cx="148855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5C780A8-981A-BAD9-7CFD-5554F6044DC8}"/>
              </a:ext>
            </a:extLst>
          </p:cNvPr>
          <p:cNvSpPr txBox="1"/>
          <p:nvPr/>
        </p:nvSpPr>
        <p:spPr>
          <a:xfrm>
            <a:off x="2165597" y="2901656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95F19E-AF57-E1D4-7DC6-141E549ABAA7}"/>
              </a:ext>
            </a:extLst>
          </p:cNvPr>
          <p:cNvSpPr txBox="1"/>
          <p:nvPr/>
        </p:nvSpPr>
        <p:spPr>
          <a:xfrm>
            <a:off x="4649552" y="2895675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3D30C9F1-0B1A-F40B-B60B-20313A7C42D9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4607444" y="3732025"/>
            <a:ext cx="2384712" cy="13652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F5D900-1850-BF61-8807-66E4C53DC28A}"/>
              </a:ext>
            </a:extLst>
          </p:cNvPr>
          <p:cNvSpPr/>
          <p:nvPr/>
        </p:nvSpPr>
        <p:spPr>
          <a:xfrm>
            <a:off x="9076661" y="281068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F1BAE7-E6C3-45FB-4B07-AACD872AC206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>
            <a:off x="7888312" y="3268182"/>
            <a:ext cx="1188349" cy="63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A64F78B-DFF4-F98B-AC71-2D68B1029C20}"/>
              </a:ext>
            </a:extLst>
          </p:cNvPr>
          <p:cNvSpPr txBox="1"/>
          <p:nvPr/>
        </p:nvSpPr>
        <p:spPr>
          <a:xfrm>
            <a:off x="7976898" y="2895675"/>
            <a:ext cx="101117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Renders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AAEFB9-255B-3CF6-9B5D-D69A251750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Agentic Workflow </a:t>
            </a:r>
            <a:r>
              <a:rPr lang="en-US" i="1" dirty="0"/>
              <a:t>with Quarto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35B8D03-97E4-F4FA-F300-ED1D8017ED40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rot="16200000" flipH="1">
            <a:off x="4176561" y="-11256"/>
            <a:ext cx="1" cy="5631188"/>
          </a:xfrm>
          <a:prstGeom prst="bentConnector3">
            <a:avLst>
              <a:gd name="adj1" fmla="val -22860000000"/>
            </a:avLst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6917181-8851-9F0D-73AB-613DE860B1D2}"/>
              </a:ext>
            </a:extLst>
          </p:cNvPr>
          <p:cNvCxnSpPr>
            <a:cxnSpLocks/>
            <a:stCxn id="3" idx="2"/>
            <a:endCxn id="4" idx="2"/>
          </p:cNvCxnSpPr>
          <p:nvPr/>
        </p:nvCxnSpPr>
        <p:spPr>
          <a:xfrm rot="5400000" flipH="1">
            <a:off x="5508034" y="-415041"/>
            <a:ext cx="6351" cy="8300484"/>
          </a:xfrm>
          <a:prstGeom prst="bentConnector3">
            <a:avLst>
              <a:gd name="adj1" fmla="val -35408408"/>
            </a:avLst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2F5471-2BBF-8F98-C29A-811B7B94A3E3}"/>
              </a:ext>
            </a:extLst>
          </p:cNvPr>
          <p:cNvSpPr txBox="1"/>
          <p:nvPr/>
        </p:nvSpPr>
        <p:spPr>
          <a:xfrm>
            <a:off x="4762971" y="5623015"/>
            <a:ext cx="16544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Review artifact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4E608-5434-CB1C-23C0-4CD77D8EAF37}"/>
              </a:ext>
            </a:extLst>
          </p:cNvPr>
          <p:cNvSpPr txBox="1"/>
          <p:nvPr/>
        </p:nvSpPr>
        <p:spPr>
          <a:xfrm>
            <a:off x="1127675" y="218547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/>
                </a:solidFill>
              </a:rPr>
              <a:t>Update .</a:t>
            </a:r>
            <a:r>
              <a:rPr lang="en-US" sz="1800" dirty="0" err="1">
                <a:solidFill>
                  <a:schemeClr val="accent6"/>
                </a:solidFill>
              </a:rPr>
              <a:t>qmd</a:t>
            </a:r>
            <a:r>
              <a:rPr lang="en-US" sz="1800" dirty="0">
                <a:solidFill>
                  <a:schemeClr val="accent6"/>
                </a:solidFill>
              </a:rPr>
              <a:t> file directly (skip agent)</a:t>
            </a:r>
          </a:p>
        </p:txBody>
      </p:sp>
    </p:spTree>
    <p:extLst>
      <p:ext uri="{BB962C8B-B14F-4D97-AF65-F5344CB8AC3E}">
        <p14:creationId xmlns:p14="http://schemas.microsoft.com/office/powerpoint/2010/main" val="43907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E48A-58C3-B4D8-EC29-066D982F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CCBC18-E581-A4A0-04BA-55E3DFBDE764}"/>
              </a:ext>
            </a:extLst>
          </p:cNvPr>
          <p:cNvSpPr txBox="1"/>
          <p:nvPr/>
        </p:nvSpPr>
        <p:spPr>
          <a:xfrm>
            <a:off x="2070689" y="1745143"/>
            <a:ext cx="856186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Agents with Quarto buy you 3 things:</a:t>
            </a:r>
          </a:p>
          <a:p>
            <a:endParaRPr lang="en-US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Correctness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Trust</a:t>
            </a:r>
          </a:p>
        </p:txBody>
      </p:sp>
    </p:spTree>
    <p:extLst>
      <p:ext uri="{BB962C8B-B14F-4D97-AF65-F5344CB8AC3E}">
        <p14:creationId xmlns:p14="http://schemas.microsoft.com/office/powerpoint/2010/main" val="11876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3D91-D0C0-67B3-EAA5-6C1B16A8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77956E-3826-72AE-3514-226466DE42EC}"/>
              </a:ext>
            </a:extLst>
          </p:cNvPr>
          <p:cNvSpPr txBox="1"/>
          <p:nvPr/>
        </p:nvSpPr>
        <p:spPr>
          <a:xfrm>
            <a:off x="539600" y="437338"/>
            <a:ext cx="8561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Correctness</a:t>
            </a:r>
          </a:p>
          <a:p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1D472-D336-E0D8-9BE3-C76D66DFC1C2}"/>
              </a:ext>
            </a:extLst>
          </p:cNvPr>
          <p:cNvSpPr txBox="1"/>
          <p:nvPr/>
        </p:nvSpPr>
        <p:spPr>
          <a:xfrm>
            <a:off x="1698549" y="2137167"/>
            <a:ext cx="820036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Without Quarto</a:t>
            </a:r>
            <a:r>
              <a:rPr lang="en-US" sz="2800" dirty="0"/>
              <a:t>: Agent writes </a:t>
            </a:r>
            <a:r>
              <a:rPr lang="en-US" sz="2800" i="1" dirty="0"/>
              <a:t>probabilistic </a:t>
            </a:r>
            <a:r>
              <a:rPr lang="en-US" sz="2800" dirty="0"/>
              <a:t>output; numbers might be wrong</a:t>
            </a:r>
          </a:p>
          <a:p>
            <a:endParaRPr lang="en-US" sz="2800" dirty="0"/>
          </a:p>
          <a:p>
            <a:r>
              <a:rPr lang="en-US" sz="2800" b="1" dirty="0"/>
              <a:t>With Quarto</a:t>
            </a:r>
            <a:r>
              <a:rPr lang="en-US" sz="2800" dirty="0"/>
              <a:t>: Agent writes </a:t>
            </a:r>
            <a:r>
              <a:rPr lang="en-US" sz="2800" i="1" dirty="0"/>
              <a:t>structure</a:t>
            </a:r>
            <a:r>
              <a:rPr lang="en-US" sz="2800" dirty="0"/>
              <a:t> and </a:t>
            </a:r>
            <a:r>
              <a:rPr lang="en-US" sz="2800" i="1" dirty="0"/>
              <a:t>code</a:t>
            </a:r>
            <a:r>
              <a:rPr lang="en-US" sz="2800" dirty="0"/>
              <a:t>; data flows through code, numbers are </a:t>
            </a:r>
            <a:r>
              <a:rPr lang="en-US" sz="2800" i="1" dirty="0"/>
              <a:t>computed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96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73B8-D069-62C3-319D-BACD9F17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79BEB1-D573-3F11-22E2-88F35A996346}"/>
              </a:ext>
            </a:extLst>
          </p:cNvPr>
          <p:cNvSpPr txBox="1"/>
          <p:nvPr/>
        </p:nvSpPr>
        <p:spPr>
          <a:xfrm>
            <a:off x="390744" y="138889"/>
            <a:ext cx="85618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Efficiency</a:t>
            </a:r>
          </a:p>
          <a:p>
            <a:r>
              <a:rPr lang="en-US" sz="4000" dirty="0"/>
              <a:t>With Quarto, agentic generates markdown, and format is </a:t>
            </a:r>
            <a:r>
              <a:rPr lang="en-US" sz="4000" i="1" dirty="0"/>
              <a:t>rendered</a:t>
            </a:r>
          </a:p>
          <a:p>
            <a:endParaRPr lang="en-US" sz="4000" dirty="0"/>
          </a:p>
        </p:txBody>
      </p:sp>
      <p:pic>
        <p:nvPicPr>
          <p:cNvPr id="2" name="Picture 1" descr="Dumbbell plot with four output types on the y-axis. Blue dots on the left show Quarto token counts; coral dots on the right show direct format token counts, connected by a grey line.">
            <a:extLst>
              <a:ext uri="{FF2B5EF4-FFF2-40B4-BE49-F238E27FC236}">
                <a16:creationId xmlns:a16="http://schemas.microsoft.com/office/drawing/2014/main" id="{90836A7E-E9B8-5D2A-BD6C-FD519AE8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017" y="2349128"/>
            <a:ext cx="8739966" cy="436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12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DDAD-C950-7B82-0DD0-17FC58ED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A03A5D-7236-706A-81DB-F2E146B3E844}"/>
              </a:ext>
            </a:extLst>
          </p:cNvPr>
          <p:cNvSpPr txBox="1"/>
          <p:nvPr/>
        </p:nvSpPr>
        <p:spPr>
          <a:xfrm>
            <a:off x="539600" y="437338"/>
            <a:ext cx="8561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Trust</a:t>
            </a:r>
          </a:p>
          <a:p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32ED4-EB2F-03DE-BB0B-85596D84D8EE}"/>
              </a:ext>
            </a:extLst>
          </p:cNvPr>
          <p:cNvSpPr txBox="1"/>
          <p:nvPr/>
        </p:nvSpPr>
        <p:spPr>
          <a:xfrm>
            <a:off x="1698549" y="2137167"/>
            <a:ext cx="84768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Checkable by machine:</a:t>
            </a:r>
            <a:r>
              <a:rPr lang="en-US" sz="2800" dirty="0"/>
              <a:t> </a:t>
            </a:r>
            <a:r>
              <a:rPr lang="en-US" sz="2400" dirty="0">
                <a:latin typeface="Monaco" pitchFamily="2" charset="77"/>
              </a:rPr>
              <a:t>quarto render</a:t>
            </a:r>
            <a:r>
              <a:rPr lang="en-US" sz="2800" dirty="0"/>
              <a:t> fails </a:t>
            </a:r>
            <a:r>
              <a:rPr lang="en-US" sz="2800" i="1" dirty="0"/>
              <a:t>loudly</a:t>
            </a:r>
            <a:r>
              <a:rPr lang="en-US" sz="2800" dirty="0"/>
              <a:t>; (broken references, bad </a:t>
            </a:r>
            <a:r>
              <a:rPr lang="en-US" sz="2800" dirty="0" err="1"/>
              <a:t>yaml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r>
              <a:rPr lang="en-US" sz="2800" b="1" dirty="0"/>
              <a:t>Checkable by human</a:t>
            </a:r>
            <a:r>
              <a:rPr lang="en-US" sz="2800" dirty="0"/>
              <a:t>: plain-text .</a:t>
            </a:r>
            <a:r>
              <a:rPr lang="en-US" sz="2800" dirty="0" err="1"/>
              <a:t>qmd</a:t>
            </a:r>
            <a:r>
              <a:rPr lang="en-US" sz="2800" dirty="0"/>
              <a:t> source means the agent's edit is a </a:t>
            </a:r>
            <a:r>
              <a:rPr lang="en-US" sz="2800" i="1" dirty="0"/>
              <a:t>diff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6450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173</Words>
  <Application>Microsoft Macintosh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Monaco</vt:lpstr>
      <vt:lpstr>Office Theme</vt:lpstr>
      <vt:lpstr>The Unreasonable Effectiveness of Quarto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Helveston</dc:creator>
  <cp:lastModifiedBy>Helveston, John Paul</cp:lastModifiedBy>
  <cp:revision>13</cp:revision>
  <dcterms:created xsi:type="dcterms:W3CDTF">2026-07-20T17:52:28Z</dcterms:created>
  <dcterms:modified xsi:type="dcterms:W3CDTF">2026-07-21T21:42:18Z</dcterms:modified>
</cp:coreProperties>
</file>